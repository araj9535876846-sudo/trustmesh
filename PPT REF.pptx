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3" r:id="rId6"/>
    <p:sldId id="266" r:id="rId7"/>
    <p:sldId id="269" r:id="rId8"/>
    <p:sldId id="27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DEB34-745F-46BC-ADAB-575E226E5A47}" v="3" dt="2026-09-29T02:42:56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Raj" userId="6247cc203698da0e" providerId="LiveId" clId="{D87023E2-55CE-45E5-ACA4-FF291ACC1D24}"/>
    <pc:docChg chg="undo custSel modSld">
      <pc:chgData name="Akash Raj" userId="6247cc203698da0e" providerId="LiveId" clId="{D87023E2-55CE-45E5-ACA4-FF291ACC1D24}" dt="2026-09-29T02:43:12.229" v="14" actId="2711"/>
      <pc:docMkLst>
        <pc:docMk/>
      </pc:docMkLst>
      <pc:sldChg chg="addSp modSp mod">
        <pc:chgData name="Akash Raj" userId="6247cc203698da0e" providerId="LiveId" clId="{D87023E2-55CE-45E5-ACA4-FF291ACC1D24}" dt="2026-09-29T02:43:12.229" v="14" actId="2711"/>
        <pc:sldMkLst>
          <pc:docMk/>
          <pc:sldMk cId="0" sldId="256"/>
        </pc:sldMkLst>
        <pc:spChg chg="add mod">
          <ac:chgData name="Akash Raj" userId="6247cc203698da0e" providerId="LiveId" clId="{D87023E2-55CE-45E5-ACA4-FF291ACC1D24}" dt="2026-09-29T02:43:12.229" v="14" actId="2711"/>
          <ac:spMkLst>
            <pc:docMk/>
            <pc:sldMk cId="0" sldId="256"/>
            <ac:spMk id="7" creationId="{47B27710-053C-99BF-F5A4-0806FB0986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44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b emb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04000" y="812800"/>
            <a:ext cx="4775200" cy="523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41500"/>
            <a:ext cx="58864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5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24-HOUR BUILDATHON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2159000"/>
            <a:ext cx="588645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</a:t>
            </a:r>
            <a:r>
              <a:rPr lang="en-US" sz="75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MESH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812800" y="3429000"/>
            <a:ext cx="562483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Trust &amp; Machine-to-Machine IoT Network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4445000"/>
            <a:ext cx="56248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SENSE → VERIFY → DECIDE → ACT → PROVE → TRANSACT → RECORD</a:t>
            </a:r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27710-053C-99BF-F5A4-0806FB0986C0}"/>
              </a:ext>
            </a:extLst>
          </p:cNvPr>
          <p:cNvSpPr txBox="1"/>
          <p:nvPr/>
        </p:nvSpPr>
        <p:spPr>
          <a:xfrm>
            <a:off x="812800" y="4862175"/>
            <a:ext cx="5318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TRUSTMESH is a system that lets machines decide whether to trust each other, act on that decision, and prove the action actually happened.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4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 · A TRUST LAYER FOR AUTONOMOUS MACHINES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651000"/>
            <a:ext cx="10464800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04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don't just prove that an event happened.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3175000"/>
            <a:ext cx="10464800" cy="1690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04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prove that the machine detected it, trusted it, acted on it, and actually completed the action.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4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3/21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 ·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6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Happens at each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4664" y="19773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SENSE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84653" y="2007235"/>
            <a:ext cx="87951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The real robot (NEURICK-001) reads its sensors: temperature and humidity (DHT22), distance (HC-SR04), gas (MQ-135) and motion (PIR).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5975" y="24288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664" y="25615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VERIFY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8364" y="2586989"/>
            <a:ext cx="879514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The ESP32 calculates a trust score and an anomaly score for what it just saw.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5975" y="30130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4664" y="31457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· DECIDE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8364" y="3072129"/>
            <a:ext cx="87951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The trust engine chooses ALLOW or REJECT. High trust and low anomaly means ALLOW; low trust or a severe anomaly means REJECT.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975" y="35972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664" y="37299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· 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8364" y="3755389"/>
            <a:ext cx="879514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An authorized software action runs: Monitor, Security Response, Emergency Response or Safe Hold.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975" y="41814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664" y="43141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· PROVE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8364" y="4339589"/>
            <a:ext cx="879514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The system checks that the action really executed. This is the Proof-of-Action.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5975" y="47656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664" y="48983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· TRANSACT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8364" y="4923789"/>
            <a:ext cx="879514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If trust is good, machines can buy and sell services using simulated credits.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5975" y="5349875"/>
            <a:ext cx="10560050" cy="514350"/>
          </a:xfrm>
          <a:prstGeom prst="roundRect">
            <a:avLst>
              <a:gd name="adj" fmla="val 16667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664" y="5482589"/>
            <a:ext cx="1511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· RECORD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8364" y="5507989"/>
            <a:ext cx="879514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F0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Every step is saved in a hash-linked ledger that can't be quietly edited.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5/21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6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sensor to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1464" y="2608579"/>
            <a:ext cx="14986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NEURICK-001 ESP32-S3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92350" y="27114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2572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0203" y="2733039"/>
            <a:ext cx="1469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02100" y="27114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547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165" y="2733039"/>
            <a:ext cx="1125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1850" y="27114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22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3338" y="2733039"/>
            <a:ext cx="122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M2M 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1600" y="27114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5497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2861" y="2733039"/>
            <a:ext cx="1282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SHA-256 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31350" y="27114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64725" y="2416175"/>
            <a:ext cx="1498600" cy="882650"/>
          </a:xfrm>
          <a:prstGeom prst="roundRect">
            <a:avLst>
              <a:gd name="adj" fmla="val 9712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4628" y="2733039"/>
            <a:ext cx="15187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3556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Serial telemetry on COM7 at 115200 baud feeds the backend, which drives trust, reputation, pricing and audit.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6/21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6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in, authorization decision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0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 evidence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0064" y="2955544"/>
            <a:ext cx="217615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Readings and sensor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97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score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99764" y="2955544"/>
            <a:ext cx="217615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Immediate authorization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4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Anomaly score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79464" y="2955544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Behavioural deviation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91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9164" y="2955544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boundary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572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trust and low anomaly: ALLOW. Low trust or severe anomaly: REJECT.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6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8/21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REPUTATION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6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decays and recovers from behaviour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0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0064" y="2955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97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99764" y="2955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4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79464" y="2955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2416175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9164" y="2620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UNTRUSTED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9164" y="2955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5720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Range 0–100: 90+ Excellent, 75–89 Stable, 60–74 Degraded, below 60 At Risk. Trust score is the immediate state; reputation is the longer history.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6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11/21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M2M 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6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Trust-aware service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416175"/>
            <a:ext cx="1860550" cy="755650"/>
          </a:xfrm>
          <a:prstGeom prst="roundRect">
            <a:avLst>
              <a:gd name="adj" fmla="val 11345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2009" y="2669536"/>
            <a:ext cx="808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4300" y="26479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87675" y="2416175"/>
            <a:ext cx="1860550" cy="755650"/>
          </a:xfrm>
          <a:prstGeom prst="roundRect">
            <a:avLst>
              <a:gd name="adj" fmla="val 11345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6165" y="2669536"/>
            <a:ext cx="623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26000" y="26479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9375" y="2416175"/>
            <a:ext cx="1860550" cy="755650"/>
          </a:xfrm>
          <a:prstGeom prst="roundRect">
            <a:avLst>
              <a:gd name="adj" fmla="val 11345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0420" y="2669536"/>
            <a:ext cx="378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7700" y="26479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1075" y="2416175"/>
            <a:ext cx="1860550" cy="755650"/>
          </a:xfrm>
          <a:prstGeom prst="roundRect">
            <a:avLst>
              <a:gd name="adj" fmla="val 11345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8709" y="2669536"/>
            <a:ext cx="60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69400" y="2647950"/>
            <a:ext cx="355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2775" y="2416175"/>
            <a:ext cx="1860550" cy="755650"/>
          </a:xfrm>
          <a:prstGeom prst="roundRect">
            <a:avLst>
              <a:gd name="adj" fmla="val 11345"/>
            </a:avLst>
          </a:prstGeom>
          <a:solidFill>
            <a:srgbClr val="0D1B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53916" y="2669536"/>
            <a:ext cx="358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3432175"/>
            <a:ext cx="2520950" cy="1200150"/>
          </a:xfrm>
          <a:prstGeom prst="roundRect">
            <a:avLst>
              <a:gd name="adj" fmla="val 8201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064" y="3636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90+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20064" y="3971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discount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95675" y="3432175"/>
            <a:ext cx="2520950" cy="1200150"/>
          </a:xfrm>
          <a:prstGeom prst="roundRect">
            <a:avLst>
              <a:gd name="adj" fmla="val 8201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9764" y="3636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75–89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99764" y="3971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 price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5375" y="3432175"/>
            <a:ext cx="2520950" cy="1200150"/>
          </a:xfrm>
          <a:prstGeom prst="roundRect">
            <a:avLst>
              <a:gd name="adj" fmla="val 8201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9464" y="3636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60–74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79464" y="3971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premium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55075" y="3432175"/>
            <a:ext cx="2520950" cy="1200150"/>
          </a:xfrm>
          <a:prstGeom prst="roundRect">
            <a:avLst>
              <a:gd name="adj" fmla="val 8201"/>
            </a:avLst>
          </a:prstGeom>
          <a:solidFill>
            <a:srgbClr val="0D1B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9164" y="3636262"/>
            <a:ext cx="21761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Below 60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059164" y="3971541"/>
            <a:ext cx="217615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blocked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48895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Services: Environmental Scan, Obstacle Detection, Security Response, Emergency Gas Analysis. Wallet starts at 10.00 simulated credits; no real money moves.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36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TRUSTMESH · 14/21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A6074-A42F-FEC7-3143-F282D0AF2C49}"/>
              </a:ext>
            </a:extLst>
          </p:cNvPr>
          <p:cNvSpPr txBox="1"/>
          <p:nvPr/>
        </p:nvSpPr>
        <p:spPr>
          <a:xfrm>
            <a:off x="394995" y="0"/>
            <a:ext cx="1140200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200" dirty="0">
                <a:solidFill>
                  <a:schemeClr val="bg1"/>
                </a:solidFill>
                <a:latin typeface="Cooper Black" panose="0208090404030B020404" pitchFamily="18" charset="0"/>
              </a:rPr>
              <a:t>THANK YOU</a:t>
            </a: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77F200C2-ED18-D87B-79DA-C914E166D9BA}"/>
              </a:ext>
            </a:extLst>
          </p:cNvPr>
          <p:cNvSpPr/>
          <p:nvPr/>
        </p:nvSpPr>
        <p:spPr>
          <a:xfrm>
            <a:off x="-130628" y="4490351"/>
            <a:ext cx="7240555" cy="1369273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E2DA7C6C-A990-284B-FB13-932D0F6259D6}"/>
              </a:ext>
            </a:extLst>
          </p:cNvPr>
          <p:cNvSpPr/>
          <p:nvPr/>
        </p:nvSpPr>
        <p:spPr>
          <a:xfrm>
            <a:off x="-1222309" y="1806244"/>
            <a:ext cx="12661640" cy="1369273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36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469</Words>
  <Application>Microsoft Office PowerPoint</Application>
  <PresentationFormat>Widescreen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Cooper Black</vt:lpstr>
      <vt:lpstr>Space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TRUSTMESH — Autonomous Trust &amp; M2M IoT Network</dc:title>
  <dc:subject>PptxGenJS Presentation</dc:subject>
  <dc:creator>PptxGenJS</dc:creator>
  <cp:lastModifiedBy>Akash Raj</cp:lastModifiedBy>
  <cp:revision>2</cp:revision>
  <dcterms:created xsi:type="dcterms:W3CDTF">2026-09-29T02:16:27Z</dcterms:created>
  <dcterms:modified xsi:type="dcterms:W3CDTF">2026-09-29T02:43:12Z</dcterms:modified>
</cp:coreProperties>
</file>